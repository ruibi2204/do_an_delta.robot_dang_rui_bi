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63" r:id="rId3"/>
  </p:sldMasterIdLst>
  <p:notesMasterIdLst>
    <p:notesMasterId r:id="rId17"/>
  </p:notesMasterIdLst>
  <p:handoutMasterIdLst>
    <p:handoutMasterId r:id="rId18"/>
  </p:handoutMasterIdLst>
  <p:sldIdLst>
    <p:sldId id="256" r:id="rId4"/>
    <p:sldId id="269" r:id="rId5"/>
    <p:sldId id="273" r:id="rId6"/>
    <p:sldId id="274" r:id="rId7"/>
    <p:sldId id="275" r:id="rId8"/>
    <p:sldId id="281" r:id="rId9"/>
    <p:sldId id="276" r:id="rId10"/>
    <p:sldId id="279" r:id="rId11"/>
    <p:sldId id="277" r:id="rId12"/>
    <p:sldId id="278" r:id="rId13"/>
    <p:sldId id="258" r:id="rId14"/>
    <p:sldId id="271" r:id="rId15"/>
    <p:sldId id="272" r:id="rId16"/>
  </p:sldIdLst>
  <p:sldSz cx="9906000" cy="6858000" type="A4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051"/>
    <a:srgbClr val="FF0000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04"/>
    <p:restoredTop sz="93603" autoAdjust="0"/>
  </p:normalViewPr>
  <p:slideViewPr>
    <p:cSldViewPr>
      <p:cViewPr varScale="1">
        <p:scale>
          <a:sx n="73" d="100"/>
          <a:sy n="73" d="100"/>
        </p:scale>
        <p:origin x="1192" y="192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handoutMaster" Target="handoutMasters/handoutMaster1.xml"/><Relationship Id="rId3" Type="http://schemas.openxmlformats.org/officeDocument/2006/relationships/slideMaster" Target="slideMasters/slideMaster3.xml"/><Relationship Id="rId21" Type="http://schemas.openxmlformats.org/officeDocument/2006/relationships/theme" Target="theme/theme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10" Type="http://schemas.openxmlformats.org/officeDocument/2006/relationships/slide" Target="slides/slide7.xml"/><Relationship Id="rId19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179484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EBCDF5-0B92-4E35-A5FF-C25961A47E76}" type="datetimeFigureOut">
              <a:rPr lang="en-US" smtClean="0"/>
              <a:t>6/13/23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9A3E6A-4DCA-4833-B5C5-038C556BB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08990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9585A3-EB39-4210-B790-4C7AAF6E196A}" type="datetimeFigureOut">
              <a:rPr lang="en-US" smtClean="0"/>
              <a:t>6/13/23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714625" y="514350"/>
            <a:ext cx="371475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F82308-34BA-4B71-BC73-94BA045802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823661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714625" y="514350"/>
            <a:ext cx="3714750" cy="25717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mở</a:t>
            </a:r>
            <a:r>
              <a:rPr lang="en-US" baseline="0" dirty="0"/>
              <a:t> đầu</a:t>
            </a:r>
            <a:endParaRPr lang="vi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F82308-34BA-4B71-BC73-94BA045802C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8589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714625" y="514350"/>
            <a:ext cx="3714750" cy="25717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</a:t>
            </a:r>
            <a:r>
              <a:rPr lang="en-US" baseline="0" dirty="0"/>
              <a:t> nội dung báo cáo</a:t>
            </a:r>
            <a:endParaRPr lang="vi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F82308-34BA-4B71-BC73-94BA045802C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02797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714625" y="514350"/>
            <a:ext cx="3714750" cy="25717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</a:t>
            </a:r>
            <a:r>
              <a:rPr lang="en-US" baseline="0" dirty="0"/>
              <a:t> lời cảm ơn</a:t>
            </a:r>
            <a:endParaRPr lang="vi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F82308-34BA-4B71-BC73-94BA045802CE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4345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714625" y="514350"/>
            <a:ext cx="3714750" cy="25717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</a:t>
            </a:r>
            <a:r>
              <a:rPr lang="en-US" baseline="0" dirty="0"/>
              <a:t> nội dung báo cáo</a:t>
            </a:r>
            <a:endParaRPr lang="vi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F82308-34BA-4B71-BC73-94BA045802CE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66421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714625" y="514350"/>
            <a:ext cx="3714750" cy="25717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</a:t>
            </a:r>
            <a:r>
              <a:rPr lang="en-US" baseline="0" dirty="0"/>
              <a:t> nội dung báo cáo</a:t>
            </a:r>
            <a:endParaRPr lang="vi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F82308-34BA-4B71-BC73-94BA045802CE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25854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risscrossEtching trans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2095" y="1981200"/>
            <a:ext cx="2877410" cy="28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8349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099337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733315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00" y="76200"/>
            <a:ext cx="1433000" cy="1440000"/>
          </a:xfrm>
          <a:prstGeom prst="rect">
            <a:avLst/>
          </a:prstGeom>
        </p:spPr>
      </p:pic>
      <p:sp>
        <p:nvSpPr>
          <p:cNvPr id="3" name="TextBox 2"/>
          <p:cNvSpPr txBox="1"/>
          <p:nvPr userDrawn="1"/>
        </p:nvSpPr>
        <p:spPr>
          <a:xfrm>
            <a:off x="1676400" y="426868"/>
            <a:ext cx="7701980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TRƯỜNG</a:t>
            </a:r>
            <a:r>
              <a:rPr lang="en-US" sz="2200" b="1" baseline="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ĐẠI HỌC KỸ THUẬT – CÔNG NGHỆ CẦN THƠ</a:t>
            </a:r>
          </a:p>
          <a:p>
            <a:pPr algn="ctr"/>
            <a:r>
              <a:rPr lang="en-US" sz="2000" b="1" baseline="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KHOA KỸ THUẬT CƠ KHÍ</a:t>
            </a:r>
            <a:endParaRPr lang="vi-VN" sz="20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 userDrawn="1"/>
        </p:nvSpPr>
        <p:spPr>
          <a:xfrm>
            <a:off x="0" y="6457890"/>
            <a:ext cx="9906000" cy="400110"/>
          </a:xfrm>
          <a:prstGeom prst="rect">
            <a:avLst/>
          </a:prstGeom>
          <a:blipFill>
            <a:blip r:embed="rId4">
              <a:alphaModFix amt="52000"/>
            </a:blip>
            <a:tile tx="0" ty="0" sx="100000" sy="100000" flip="none" algn="tl"/>
          </a:blipFill>
        </p:spPr>
        <p:txBody>
          <a:bodyPr wrap="square" rtlCol="0">
            <a:spAutoFit/>
          </a:bodyPr>
          <a:lstStyle/>
          <a:p>
            <a:r>
              <a:rPr lang="vi-VN" sz="2000" dirty="0">
                <a:solidFill>
                  <a:srgbClr val="000099"/>
                </a:solidFill>
                <a:latin typeface="+mj-lt"/>
              </a:rPr>
              <a:t>www.ctuet.edu.vn</a:t>
            </a:r>
            <a:endParaRPr lang="vi-VN" sz="2000" dirty="0">
              <a:solidFill>
                <a:srgbClr val="000099"/>
              </a:solidFill>
              <a:latin typeface="+mj-lt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34627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 userDrawn="1"/>
        </p:nvCxnSpPr>
        <p:spPr>
          <a:xfrm>
            <a:off x="0" y="744828"/>
            <a:ext cx="9906000" cy="0"/>
          </a:xfrm>
          <a:prstGeom prst="line">
            <a:avLst/>
          </a:prstGeom>
          <a:ln w="101600" cmpd="dbl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47800" cy="1440000"/>
          </a:xfrm>
          <a:prstGeom prst="rect">
            <a:avLst/>
          </a:prstGeom>
        </p:spPr>
      </p:pic>
      <p:sp>
        <p:nvSpPr>
          <p:cNvPr id="5" name="TextBox 4"/>
          <p:cNvSpPr txBox="1"/>
          <p:nvPr userDrawn="1"/>
        </p:nvSpPr>
        <p:spPr>
          <a:xfrm>
            <a:off x="0" y="6457890"/>
            <a:ext cx="9906000" cy="400110"/>
          </a:xfrm>
          <a:prstGeom prst="rect">
            <a:avLst/>
          </a:prstGeom>
          <a:blipFill>
            <a:blip r:embed="rId4">
              <a:alphaModFix amt="52000"/>
            </a:blip>
            <a:tile tx="0" ty="0" sx="100000" sy="100000" flip="none" algn="tl"/>
          </a:blipFill>
        </p:spPr>
        <p:txBody>
          <a:bodyPr wrap="square" rtlCol="0">
            <a:spAutoFit/>
          </a:bodyPr>
          <a:lstStyle/>
          <a:p>
            <a:r>
              <a:rPr lang="vi-VN" sz="2000" dirty="0">
                <a:solidFill>
                  <a:srgbClr val="000099"/>
                </a:solidFill>
                <a:latin typeface="+mj-lt"/>
              </a:rPr>
              <a:t>www.ctuet.edu.vn</a:t>
            </a:r>
            <a:endParaRPr lang="vi-VN" sz="2000" dirty="0">
              <a:solidFill>
                <a:srgbClr val="000099"/>
              </a:solidFill>
              <a:latin typeface="+mj-lt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13025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 userDrawn="1"/>
        </p:nvSpPr>
        <p:spPr>
          <a:xfrm>
            <a:off x="0" y="6457890"/>
            <a:ext cx="9906000" cy="400110"/>
          </a:xfrm>
          <a:prstGeom prst="rect">
            <a:avLst/>
          </a:prstGeom>
          <a:blipFill>
            <a:blip r:embed="rId3">
              <a:alphaModFix amt="52000"/>
            </a:blip>
            <a:tile tx="0" ty="0" sx="100000" sy="100000" flip="none" algn="tl"/>
          </a:blipFill>
        </p:spPr>
        <p:txBody>
          <a:bodyPr wrap="square" rtlCol="0">
            <a:spAutoFit/>
          </a:bodyPr>
          <a:lstStyle/>
          <a:p>
            <a:r>
              <a:rPr lang="vi-VN" sz="2000" dirty="0">
                <a:solidFill>
                  <a:srgbClr val="000099"/>
                </a:solidFill>
                <a:latin typeface="+mj-lt"/>
              </a:rPr>
              <a:t>www.ctuet.edu.vn</a:t>
            </a:r>
            <a:endParaRPr lang="vi-VN" sz="2000" dirty="0">
              <a:solidFill>
                <a:srgbClr val="000099"/>
              </a:solidFill>
              <a:latin typeface="+mj-lt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CrisscrossEtching trans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2095" y="1981200"/>
            <a:ext cx="2877410" cy="28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92612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98607" y="1472625"/>
            <a:ext cx="615681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BÁO CÁO ĐỒ ÁN TỐT NGHIỆP</a:t>
            </a:r>
            <a:endParaRPr lang="vi-VN" sz="32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3401" y="4483768"/>
            <a:ext cx="351269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GIẢNG VIÊN HƯỚNG DẪN</a:t>
            </a:r>
          </a:p>
          <a:p>
            <a:r>
              <a:rPr lang="en-US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TS. Nguyễn Văn A</a:t>
            </a:r>
            <a:endParaRPr lang="vi-VN" sz="2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619606" y="2286000"/>
            <a:ext cx="7451079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Đề tài: </a:t>
            </a:r>
          </a:p>
          <a:p>
            <a:pPr algn="ctr"/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TÊN ĐỀ TÀI</a:t>
            </a:r>
          </a:p>
          <a:p>
            <a:pPr algn="ctr"/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(size 36, </a:t>
            </a:r>
            <a:r>
              <a:rPr lang="en-US" sz="36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canh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giữa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6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xuống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dòng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đủ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ý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vi-VN" sz="3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096000" y="4495800"/>
            <a:ext cx="3137782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SINH VIÊN THỰC HIỆN</a:t>
            </a:r>
          </a:p>
          <a:p>
            <a:r>
              <a:rPr lang="en-US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Nguyễn Văn B</a:t>
            </a:r>
          </a:p>
          <a:p>
            <a:r>
              <a:rPr lang="en-US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MSSV: </a:t>
            </a:r>
          </a:p>
          <a:p>
            <a:r>
              <a:rPr lang="en-US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Lớp:</a:t>
            </a:r>
          </a:p>
          <a:p>
            <a:r>
              <a:rPr lang="en-US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Khóa:</a:t>
            </a:r>
            <a:endParaRPr lang="vi-VN" sz="2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128657" y="6457890"/>
            <a:ext cx="348544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Cần Thơ, ngày…tháng…năm…</a:t>
            </a:r>
            <a:endParaRPr lang="vi-VN" sz="20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9107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524000" y="76200"/>
            <a:ext cx="47884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NỘI DUNG BÁO CÁO</a:t>
            </a:r>
            <a:endParaRPr lang="vi-VN" sz="36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9448800" y="64886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vi-V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975B30-92A3-BD76-7A80-83F7D0BAB255}"/>
              </a:ext>
            </a:extLst>
          </p:cNvPr>
          <p:cNvSpPr txBox="1"/>
          <p:nvPr/>
        </p:nvSpPr>
        <p:spPr>
          <a:xfrm>
            <a:off x="1066800" y="1219200"/>
            <a:ext cx="6629400" cy="38928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lnSpc>
                <a:spcPct val="150000"/>
              </a:lnSpc>
              <a:buFont typeface="Wingdings" pitchFamily="2" charset="2"/>
              <a:buChar char="v"/>
            </a:pPr>
            <a:r>
              <a:rPr lang="en-GB" sz="28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Lý</a:t>
            </a:r>
            <a:r>
              <a:rPr lang="en-GB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do </a:t>
            </a:r>
            <a:r>
              <a:rPr lang="en-GB" sz="28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chọn</a:t>
            </a:r>
            <a:r>
              <a:rPr lang="en-GB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đề</a:t>
            </a:r>
            <a:r>
              <a:rPr lang="en-GB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tài</a:t>
            </a:r>
            <a:endParaRPr lang="en-GB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50000"/>
              </a:lnSpc>
              <a:buFont typeface="Wingdings" pitchFamily="2" charset="2"/>
              <a:buChar char="v"/>
            </a:pPr>
            <a:r>
              <a:rPr lang="en-GB" sz="28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</a:t>
            </a:r>
            <a:r>
              <a:rPr lang="en-GB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ục</a:t>
            </a:r>
            <a:r>
              <a:rPr lang="en-GB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tiêu</a:t>
            </a:r>
            <a:r>
              <a:rPr lang="en-GB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nghiên</a:t>
            </a:r>
            <a:r>
              <a:rPr lang="en-GB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cứu</a:t>
            </a:r>
            <a:endParaRPr lang="en-GB" sz="2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50000"/>
              </a:lnSpc>
              <a:buFont typeface="Wingdings" pitchFamily="2" charset="2"/>
              <a:buChar char="v"/>
            </a:pPr>
            <a:r>
              <a:rPr lang="en-GB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Nội</a:t>
            </a:r>
            <a:r>
              <a:rPr lang="en-GB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dung </a:t>
            </a:r>
            <a:r>
              <a:rPr lang="en-GB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nghiên</a:t>
            </a:r>
            <a:r>
              <a:rPr lang="en-GB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cứu</a:t>
            </a:r>
            <a:endParaRPr lang="en-GB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50000"/>
              </a:lnSpc>
              <a:buFont typeface="Wingdings" pitchFamily="2" charset="2"/>
              <a:buChar char="v"/>
            </a:pPr>
            <a:r>
              <a:rPr lang="en-GB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Kết</a:t>
            </a:r>
            <a:r>
              <a:rPr lang="en-GB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quả</a:t>
            </a:r>
            <a:r>
              <a:rPr lang="en-GB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và</a:t>
            </a:r>
            <a:r>
              <a:rPr lang="en-GB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thảo</a:t>
            </a:r>
            <a:r>
              <a:rPr lang="en-GB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luận</a:t>
            </a:r>
            <a:endParaRPr lang="en-GB" sz="2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50000"/>
              </a:lnSpc>
              <a:buFont typeface="Wingdings" pitchFamily="2" charset="2"/>
              <a:buChar char="v"/>
            </a:pPr>
            <a:r>
              <a:rPr lang="en-GB" sz="28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</a:t>
            </a:r>
            <a:r>
              <a:rPr lang="en-GB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ết</a:t>
            </a:r>
            <a:r>
              <a:rPr lang="en-GB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luận</a:t>
            </a:r>
            <a:endParaRPr lang="en-GB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50000"/>
              </a:lnSpc>
              <a:buFont typeface="Wingdings" pitchFamily="2" charset="2"/>
              <a:buChar char="v"/>
            </a:pPr>
            <a:r>
              <a:rPr lang="en-GB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Cảm</a:t>
            </a:r>
            <a:r>
              <a:rPr lang="en-GB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tạ</a:t>
            </a:r>
            <a:r>
              <a:rPr lang="en-GB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en-GB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nếu</a:t>
            </a:r>
            <a:r>
              <a:rPr lang="en-GB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có</a:t>
            </a:r>
            <a:r>
              <a:rPr lang="en-GB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endParaRPr lang="vi-VN" sz="28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73575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81F4297-DF5E-59CC-139F-E361B802F36F}"/>
              </a:ext>
            </a:extLst>
          </p:cNvPr>
          <p:cNvSpPr txBox="1"/>
          <p:nvPr/>
        </p:nvSpPr>
        <p:spPr>
          <a:xfrm>
            <a:off x="1524000" y="76200"/>
            <a:ext cx="48186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LÝ DO CHỌN ĐỀ TÀI</a:t>
            </a:r>
            <a:endParaRPr lang="vi-VN" sz="36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A131403-FAF2-2C78-C142-A3562297DAC6}"/>
              </a:ext>
            </a:extLst>
          </p:cNvPr>
          <p:cNvSpPr txBox="1"/>
          <p:nvPr/>
        </p:nvSpPr>
        <p:spPr>
          <a:xfrm>
            <a:off x="1028700" y="1558231"/>
            <a:ext cx="7848600" cy="1870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54610" indent="-457200" algn="just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v"/>
            </a:pPr>
            <a:r>
              <a:rPr lang="en-US" sz="2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Lý</a:t>
            </a:r>
            <a:r>
              <a:rPr lang="en-US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do </a:t>
            </a:r>
            <a:r>
              <a:rPr lang="en-US" sz="2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chọn</a:t>
            </a:r>
            <a:r>
              <a:rPr lang="en-US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đề</a:t>
            </a:r>
            <a:r>
              <a:rPr lang="en-US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tài</a:t>
            </a:r>
            <a:r>
              <a:rPr lang="en-US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(</a:t>
            </a:r>
            <a:r>
              <a:rPr lang="en-US" sz="2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vì</a:t>
            </a:r>
            <a:r>
              <a:rPr lang="en-US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sao</a:t>
            </a:r>
            <a:r>
              <a:rPr lang="en-US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tôi</a:t>
            </a:r>
            <a:r>
              <a:rPr lang="en-US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chọn</a:t>
            </a:r>
            <a:r>
              <a:rPr lang="en-US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đề</a:t>
            </a:r>
            <a:r>
              <a:rPr lang="en-US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tài</a:t>
            </a:r>
            <a:r>
              <a:rPr lang="en-US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này</a:t>
            </a:r>
            <a:r>
              <a:rPr lang="en-US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?)</a:t>
            </a:r>
            <a:endParaRPr lang="en-VN" sz="2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457200" marR="54610" indent="-457200" algn="just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v"/>
            </a:pPr>
            <a:r>
              <a:rPr lang="en-US" sz="2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Tính</a:t>
            </a:r>
            <a:r>
              <a:rPr lang="en-US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cấp</a:t>
            </a:r>
            <a:r>
              <a:rPr lang="en-US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thiết</a:t>
            </a:r>
            <a:r>
              <a:rPr lang="en-US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của</a:t>
            </a:r>
            <a:r>
              <a:rPr lang="en-US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đề</a:t>
            </a:r>
            <a:r>
              <a:rPr lang="en-US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tài</a:t>
            </a:r>
            <a:r>
              <a:rPr lang="en-US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(</a:t>
            </a:r>
            <a:r>
              <a:rPr lang="en-US" sz="2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vì</a:t>
            </a:r>
            <a:r>
              <a:rPr lang="en-US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sao</a:t>
            </a:r>
            <a:r>
              <a:rPr lang="en-US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đề</a:t>
            </a:r>
            <a:r>
              <a:rPr lang="en-US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tài</a:t>
            </a:r>
            <a:r>
              <a:rPr lang="en-US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cần</a:t>
            </a:r>
            <a:r>
              <a:rPr lang="en-US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được</a:t>
            </a:r>
            <a:r>
              <a:rPr lang="en-US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thực</a:t>
            </a:r>
            <a:r>
              <a:rPr lang="en-US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hiện</a:t>
            </a:r>
            <a:r>
              <a:rPr lang="en-US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?)</a:t>
            </a:r>
            <a:endParaRPr lang="en-VN" sz="2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69361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81F4297-DF5E-59CC-139F-E361B802F36F}"/>
              </a:ext>
            </a:extLst>
          </p:cNvPr>
          <p:cNvSpPr txBox="1"/>
          <p:nvPr/>
        </p:nvSpPr>
        <p:spPr>
          <a:xfrm>
            <a:off x="1524000" y="76200"/>
            <a:ext cx="57756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MỤC TIÊU NGHIÊN CỨU</a:t>
            </a:r>
            <a:endParaRPr lang="vi-VN" sz="36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14B78C-A756-EB35-2CA4-744EBB5D3DB4}"/>
              </a:ext>
            </a:extLst>
          </p:cNvPr>
          <p:cNvSpPr txBox="1"/>
          <p:nvPr/>
        </p:nvSpPr>
        <p:spPr>
          <a:xfrm>
            <a:off x="948374" y="1828800"/>
            <a:ext cx="8009252" cy="1870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v"/>
            </a:pP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P</a:t>
            </a:r>
            <a:r>
              <a:rPr lang="en-US" sz="2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hải</a:t>
            </a:r>
            <a:r>
              <a:rPr lang="en-US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trả</a:t>
            </a:r>
            <a:r>
              <a:rPr lang="en-US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lời</a:t>
            </a:r>
            <a:r>
              <a:rPr lang="en-US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cho</a:t>
            </a:r>
            <a:r>
              <a:rPr lang="en-US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câu</a:t>
            </a:r>
            <a:r>
              <a:rPr lang="en-US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hỏi</a:t>
            </a:r>
            <a:r>
              <a:rPr lang="en-US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“</a:t>
            </a:r>
            <a:r>
              <a:rPr lang="en-US" sz="280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phải</a:t>
            </a:r>
            <a:r>
              <a:rPr lang="en-US" sz="28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đạt</a:t>
            </a:r>
            <a:r>
              <a:rPr lang="en-US" sz="28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được</a:t>
            </a:r>
            <a:r>
              <a:rPr lang="en-US" sz="28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điều</a:t>
            </a:r>
            <a:r>
              <a:rPr lang="en-US" sz="28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gì</a:t>
            </a:r>
            <a:r>
              <a:rPr lang="en-US" sz="28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?”</a:t>
            </a:r>
            <a:r>
              <a:rPr lang="en-US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</a:t>
            </a:r>
          </a:p>
          <a:p>
            <a:pPr marL="457200" indent="-457200" algn="just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v"/>
            </a:pPr>
            <a:r>
              <a:rPr lang="en-US" sz="2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Mục</a:t>
            </a:r>
            <a:r>
              <a:rPr lang="en-US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tiêu</a:t>
            </a:r>
            <a:r>
              <a:rPr lang="en-US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là</a:t>
            </a:r>
            <a:r>
              <a:rPr lang="en-US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nền</a:t>
            </a:r>
            <a:r>
              <a:rPr lang="en-US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tảng</a:t>
            </a:r>
            <a:r>
              <a:rPr lang="en-US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để</a:t>
            </a:r>
            <a:r>
              <a:rPr lang="en-US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tiến</a:t>
            </a:r>
            <a:r>
              <a:rPr lang="en-US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hành</a:t>
            </a:r>
            <a:r>
              <a:rPr lang="en-US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nghiên</a:t>
            </a:r>
            <a:r>
              <a:rPr lang="en-US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cứu</a:t>
            </a:r>
            <a:r>
              <a:rPr lang="en-US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và</a:t>
            </a:r>
            <a:r>
              <a:rPr lang="en-US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cũng</a:t>
            </a:r>
            <a:r>
              <a:rPr lang="en-US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là</a:t>
            </a:r>
            <a:r>
              <a:rPr lang="en-US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cơ</a:t>
            </a:r>
            <a:r>
              <a:rPr lang="en-US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sở</a:t>
            </a:r>
            <a:r>
              <a:rPr lang="en-US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để</a:t>
            </a:r>
            <a:r>
              <a:rPr lang="en-US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đánh</a:t>
            </a:r>
            <a:r>
              <a:rPr lang="en-US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giá</a:t>
            </a:r>
            <a:r>
              <a:rPr lang="en-US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kết</a:t>
            </a:r>
            <a:r>
              <a:rPr lang="en-US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quả</a:t>
            </a:r>
            <a:r>
              <a:rPr lang="en-US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. </a:t>
            </a:r>
            <a:endParaRPr lang="en-VN" sz="2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24099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81F4297-DF5E-59CC-139F-E361B802F36F}"/>
              </a:ext>
            </a:extLst>
          </p:cNvPr>
          <p:cNvSpPr txBox="1"/>
          <p:nvPr/>
        </p:nvSpPr>
        <p:spPr>
          <a:xfrm>
            <a:off x="1524000" y="76200"/>
            <a:ext cx="578395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NỘI DUNG NGHIÊN CỨU</a:t>
            </a:r>
            <a:endParaRPr lang="vi-VN" sz="36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63E7FA-0AD7-FF80-4DEC-35826182069E}"/>
              </a:ext>
            </a:extLst>
          </p:cNvPr>
          <p:cNvSpPr txBox="1"/>
          <p:nvPr/>
        </p:nvSpPr>
        <p:spPr>
          <a:xfrm>
            <a:off x="419100" y="1752600"/>
            <a:ext cx="9067800" cy="4046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21970" marR="73025" indent="-457200" algn="just">
              <a:lnSpc>
                <a:spcPct val="150000"/>
              </a:lnSpc>
              <a:spcBef>
                <a:spcPts val="595"/>
              </a:spcBef>
              <a:spcAft>
                <a:spcPts val="0"/>
              </a:spcAft>
              <a:buFont typeface="Wingdings" pitchFamily="2" charset="2"/>
              <a:buChar char="v"/>
            </a:pP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này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phải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phương</a:t>
            </a:r>
            <a:r>
              <a:rPr lang="en-GB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pháp</a:t>
            </a:r>
            <a:r>
              <a:rPr lang="en-GB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GB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kỹ</a:t>
            </a:r>
            <a:r>
              <a:rPr lang="en-GB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thuật</a:t>
            </a:r>
            <a:r>
              <a:rPr lang="en-GB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và</a:t>
            </a:r>
            <a:r>
              <a:rPr lang="en-GB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mẫu</a:t>
            </a:r>
            <a:r>
              <a:rPr lang="en-GB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vật</a:t>
            </a:r>
            <a:r>
              <a:rPr lang="en-GB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GB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thiết</a:t>
            </a:r>
            <a:r>
              <a:rPr lang="en-GB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bị</a:t>
            </a:r>
            <a:r>
              <a:rPr lang="en-GB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chính</a:t>
            </a:r>
            <a:r>
              <a:rPr lang="en-GB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… </a:t>
            </a:r>
            <a:r>
              <a:rPr lang="en-GB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dùng</a:t>
            </a:r>
            <a:r>
              <a:rPr lang="en-GB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trong</a:t>
            </a:r>
            <a:r>
              <a:rPr lang="en-GB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nghiên</a:t>
            </a:r>
            <a:r>
              <a:rPr lang="en-GB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cứu</a:t>
            </a:r>
            <a:r>
              <a:rPr lang="en-GB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521970" marR="73025" indent="-457200" algn="just">
              <a:lnSpc>
                <a:spcPct val="150000"/>
              </a:lnSpc>
              <a:spcBef>
                <a:spcPts val="595"/>
              </a:spcBef>
              <a:spcAft>
                <a:spcPts val="0"/>
              </a:spcAft>
              <a:buFont typeface="Wingdings" pitchFamily="2" charset="2"/>
              <a:buChar char="v"/>
            </a:pPr>
            <a:r>
              <a:rPr lang="en-GB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Có</a:t>
            </a:r>
            <a:r>
              <a:rPr lang="en-GB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thể</a:t>
            </a:r>
            <a:r>
              <a:rPr lang="en-GB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viết</a:t>
            </a:r>
            <a:r>
              <a:rPr lang="en-GB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theo</a:t>
            </a:r>
            <a:r>
              <a:rPr lang="en-GB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từng</a:t>
            </a:r>
            <a:r>
              <a:rPr lang="en-GB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nội</a:t>
            </a:r>
            <a:r>
              <a:rPr lang="en-GB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dung </a:t>
            </a:r>
            <a:r>
              <a:rPr lang="en-GB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nghiên</a:t>
            </a:r>
            <a:r>
              <a:rPr lang="en-GB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cứu</a:t>
            </a:r>
            <a:r>
              <a:rPr lang="en-GB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của</a:t>
            </a:r>
            <a:r>
              <a:rPr lang="en-GB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đồ</a:t>
            </a:r>
            <a:r>
              <a:rPr lang="en-GB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án</a:t>
            </a:r>
            <a:r>
              <a:rPr lang="en-GB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/</a:t>
            </a:r>
            <a:r>
              <a:rPr lang="en-GB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thực</a:t>
            </a:r>
            <a:r>
              <a:rPr lang="en-GB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tập</a:t>
            </a:r>
            <a:r>
              <a:rPr lang="en-GB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tốt</a:t>
            </a:r>
            <a:r>
              <a:rPr lang="en-GB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nghiệp</a:t>
            </a:r>
            <a:r>
              <a:rPr lang="en-GB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521970" marR="73025" indent="-457200" algn="just">
              <a:lnSpc>
                <a:spcPct val="150000"/>
              </a:lnSpc>
              <a:spcBef>
                <a:spcPts val="595"/>
              </a:spcBef>
              <a:spcAft>
                <a:spcPts val="0"/>
              </a:spcAft>
              <a:buFont typeface="Wingdings" pitchFamily="2" charset="2"/>
              <a:buChar char="v"/>
            </a:pPr>
            <a:r>
              <a:rPr lang="en-GB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Mô</a:t>
            </a:r>
            <a:r>
              <a:rPr lang="en-GB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tả</a:t>
            </a:r>
            <a:r>
              <a:rPr lang="en-GB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chi </a:t>
            </a:r>
            <a:r>
              <a:rPr lang="en-GB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tiết</a:t>
            </a:r>
            <a:r>
              <a:rPr lang="en-GB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phương</a:t>
            </a:r>
            <a:r>
              <a:rPr lang="en-GB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pháp</a:t>
            </a:r>
            <a:r>
              <a:rPr lang="en-GB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bố</a:t>
            </a:r>
            <a:r>
              <a:rPr lang="en-GB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trí</a:t>
            </a:r>
            <a:r>
              <a:rPr lang="en-GB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thí</a:t>
            </a:r>
            <a:r>
              <a:rPr lang="en-GB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nghiệm</a:t>
            </a:r>
            <a:r>
              <a:rPr lang="en-GB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GB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nguyên</a:t>
            </a:r>
            <a:r>
              <a:rPr lang="en-GB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lý</a:t>
            </a:r>
            <a:r>
              <a:rPr lang="en-GB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hoạt</a:t>
            </a:r>
            <a:r>
              <a:rPr lang="en-GB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động</a:t>
            </a:r>
            <a:r>
              <a:rPr lang="en-GB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của</a:t>
            </a:r>
            <a:r>
              <a:rPr lang="en-GB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mô</a:t>
            </a:r>
            <a:r>
              <a:rPr lang="en-GB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hình</a:t>
            </a:r>
            <a:r>
              <a:rPr lang="en-GB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…</a:t>
            </a:r>
            <a:r>
              <a:rPr lang="en-VN" sz="2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VN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8256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81F4297-DF5E-59CC-139F-E361B802F36F}"/>
              </a:ext>
            </a:extLst>
          </p:cNvPr>
          <p:cNvSpPr txBox="1"/>
          <p:nvPr/>
        </p:nvSpPr>
        <p:spPr>
          <a:xfrm>
            <a:off x="1524000" y="76200"/>
            <a:ext cx="639950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NỘI DUNG NGHIÊN CỨU (</a:t>
            </a:r>
            <a:r>
              <a:rPr lang="en-US" sz="3600" b="1" i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tt</a:t>
            </a:r>
            <a:r>
              <a:rPr lang="en-US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vi-VN" sz="36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63E7FA-0AD7-FF80-4DEC-35826182069E}"/>
              </a:ext>
            </a:extLst>
          </p:cNvPr>
          <p:cNvSpPr txBox="1"/>
          <p:nvPr/>
        </p:nvSpPr>
        <p:spPr>
          <a:xfrm>
            <a:off x="419100" y="1752600"/>
            <a:ext cx="9067800" cy="66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21970" marR="73025" indent="-457200" algn="just">
              <a:lnSpc>
                <a:spcPct val="150000"/>
              </a:lnSpc>
              <a:spcBef>
                <a:spcPts val="595"/>
              </a:spcBef>
              <a:spcAft>
                <a:spcPts val="0"/>
              </a:spcAft>
              <a:buFont typeface="Wingdings" pitchFamily="2" charset="2"/>
              <a:buChar char="v"/>
            </a:pPr>
            <a:r>
              <a:rPr lang="vi-VN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Trình bày tiếp nếu cần thể hiện nhiều slide</a:t>
            </a:r>
            <a:endParaRPr lang="en-VN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08501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81F4297-DF5E-59CC-139F-E361B802F36F}"/>
              </a:ext>
            </a:extLst>
          </p:cNvPr>
          <p:cNvSpPr txBox="1"/>
          <p:nvPr/>
        </p:nvSpPr>
        <p:spPr>
          <a:xfrm>
            <a:off x="1524000" y="76200"/>
            <a:ext cx="595611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KẾT QUẢ VÀ THẢO LUẬN</a:t>
            </a:r>
            <a:endParaRPr lang="vi-VN" sz="36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9182E6-4926-B724-C5AE-5A6A4962F97E}"/>
              </a:ext>
            </a:extLst>
          </p:cNvPr>
          <p:cNvSpPr txBox="1"/>
          <p:nvPr/>
        </p:nvSpPr>
        <p:spPr>
          <a:xfrm>
            <a:off x="457200" y="1295400"/>
            <a:ext cx="861060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buFont typeface="Wingdings" pitchFamily="2" charset="2"/>
              <a:buChar char="v"/>
            </a:pPr>
            <a:r>
              <a:rPr lang="en-US" sz="28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rình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bày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những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kết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quả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chính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/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nổi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bật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của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báo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cáo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thông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qua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các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bảng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hình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và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câu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chữ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sao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cho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dễ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hiểu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và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người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nghe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có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thể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nhớ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được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các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kết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quả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quan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trọng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của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báo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cáo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  <a:p>
            <a:pPr marL="457200" indent="-457200" algn="just">
              <a:buFont typeface="Wingdings" pitchFamily="2" charset="2"/>
              <a:buChar char="v"/>
            </a:pP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Hình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phải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được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chọn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lọc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và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trình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bày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sao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cho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đơn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giản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có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trọng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tâm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Bảng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cũng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cần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đơn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giản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2800" b="1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dễ</a:t>
            </a:r>
            <a:r>
              <a:rPr lang="en-US" sz="2800" b="1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b="1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nhận</a:t>
            </a:r>
            <a:r>
              <a:rPr lang="en-US" sz="2800" b="1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b="1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ra</a:t>
            </a:r>
            <a:r>
              <a:rPr lang="en-US" sz="2800" b="1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b="1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các</a:t>
            </a:r>
            <a:r>
              <a:rPr lang="en-US" sz="2800" b="1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b="1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số</a:t>
            </a:r>
            <a:r>
              <a:rPr lang="en-US" sz="2800" b="1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b="1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liệu</a:t>
            </a:r>
            <a:r>
              <a:rPr lang="en-US" sz="2800" b="1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b="1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quan</a:t>
            </a:r>
            <a:r>
              <a:rPr lang="en-US" sz="2800" b="1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b="1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trọng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Các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hình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và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bảng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có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thể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trình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bày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khác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hay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đơn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giản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hơn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trong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GB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đồ</a:t>
            </a:r>
            <a:r>
              <a:rPr lang="en-GB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án</a:t>
            </a:r>
            <a:r>
              <a:rPr lang="en-GB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/</a:t>
            </a:r>
            <a:r>
              <a:rPr lang="en-GB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thực</a:t>
            </a:r>
            <a:r>
              <a:rPr lang="en-GB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tập</a:t>
            </a:r>
            <a:r>
              <a:rPr lang="en-GB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tốt</a:t>
            </a:r>
            <a:r>
              <a:rPr lang="en-GB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nghiệp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nhưng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phải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có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được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nội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dung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chính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muốn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thể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hiện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  <a:p>
            <a:pPr marL="457200" indent="-457200" algn="just">
              <a:buFont typeface="Wingdings" pitchFamily="2" charset="2"/>
              <a:buChar char="v"/>
            </a:pP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Mỗi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bảng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hay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hình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cần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có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ghi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chú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nhận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xét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chính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để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người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nghe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dễ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theo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dõi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và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cũng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thuận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lợi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trong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lúc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trình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bày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báo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cao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en-VN" sz="2800" dirty="0"/>
          </a:p>
        </p:txBody>
      </p:sp>
    </p:spTree>
    <p:extLst>
      <p:ext uri="{BB962C8B-B14F-4D97-AF65-F5344CB8AC3E}">
        <p14:creationId xmlns:p14="http://schemas.microsoft.com/office/powerpoint/2010/main" val="1285708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81F4297-DF5E-59CC-139F-E361B802F36F}"/>
              </a:ext>
            </a:extLst>
          </p:cNvPr>
          <p:cNvSpPr txBox="1"/>
          <p:nvPr/>
        </p:nvSpPr>
        <p:spPr>
          <a:xfrm>
            <a:off x="1524000" y="76200"/>
            <a:ext cx="66870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KẾT QUẢ VÀ THẢO LUẬN (</a:t>
            </a:r>
            <a:r>
              <a:rPr lang="en-US" sz="3600" b="1" i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tt</a:t>
            </a:r>
            <a:r>
              <a:rPr lang="en-US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vi-VN" sz="36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13E4A68-6F5A-833F-1714-1C26BD5146A3}"/>
              </a:ext>
            </a:extLst>
          </p:cNvPr>
          <p:cNvSpPr txBox="1"/>
          <p:nvPr/>
        </p:nvSpPr>
        <p:spPr>
          <a:xfrm>
            <a:off x="419100" y="1752600"/>
            <a:ext cx="9067800" cy="66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21970" marR="73025" indent="-457200" algn="just">
              <a:lnSpc>
                <a:spcPct val="150000"/>
              </a:lnSpc>
              <a:spcBef>
                <a:spcPts val="595"/>
              </a:spcBef>
              <a:spcAft>
                <a:spcPts val="0"/>
              </a:spcAft>
              <a:buFont typeface="Wingdings" pitchFamily="2" charset="2"/>
              <a:buChar char="v"/>
            </a:pPr>
            <a:r>
              <a:rPr lang="vi-VN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Trình bày tiếp nếu cần thể hiện nhiều slide</a:t>
            </a:r>
            <a:endParaRPr lang="en-VN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24514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81F4297-DF5E-59CC-139F-E361B802F36F}"/>
              </a:ext>
            </a:extLst>
          </p:cNvPr>
          <p:cNvSpPr txBox="1"/>
          <p:nvPr/>
        </p:nvSpPr>
        <p:spPr>
          <a:xfrm>
            <a:off x="1524000" y="76200"/>
            <a:ext cx="59901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KẾT LUẬN VÀ KIẾN NGHỊ</a:t>
            </a:r>
            <a:endParaRPr lang="vi-VN" sz="36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B92F2A-52C3-0DF4-BF59-0FAEBD2595C0}"/>
              </a:ext>
            </a:extLst>
          </p:cNvPr>
          <p:cNvSpPr txBox="1"/>
          <p:nvPr/>
        </p:nvSpPr>
        <p:spPr>
          <a:xfrm>
            <a:off x="990600" y="1676400"/>
            <a:ext cx="7924800" cy="19538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itchFamily="2" charset="2"/>
              <a:buChar char="v"/>
            </a:pPr>
            <a:r>
              <a:rPr lang="en-US" sz="2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Trình</a:t>
            </a:r>
            <a:r>
              <a:rPr lang="en-US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bày</a:t>
            </a:r>
            <a:r>
              <a:rPr lang="en-US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những</a:t>
            </a:r>
            <a:r>
              <a:rPr lang="en-US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kết</a:t>
            </a:r>
            <a:r>
              <a:rPr lang="en-US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quả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chính</a:t>
            </a:r>
            <a:r>
              <a:rPr lang="en-US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của</a:t>
            </a:r>
            <a:r>
              <a:rPr lang="en-US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nghiên</a:t>
            </a:r>
            <a:r>
              <a:rPr lang="en-US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cứu</a:t>
            </a:r>
            <a:r>
              <a:rPr lang="en-US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một</a:t>
            </a:r>
            <a:r>
              <a:rPr lang="en-US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cách</a:t>
            </a:r>
            <a:r>
              <a:rPr lang="en-US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ngắn</a:t>
            </a:r>
            <a:r>
              <a:rPr lang="en-US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gọn</a:t>
            </a:r>
            <a:r>
              <a:rPr lang="en-US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2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không</a:t>
            </a:r>
            <a:r>
              <a:rPr lang="en-US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cần</a:t>
            </a:r>
            <a:r>
              <a:rPr lang="en-US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bình</a:t>
            </a:r>
            <a:r>
              <a:rPr lang="en-US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luận</a:t>
            </a:r>
            <a:r>
              <a:rPr lang="en-US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thêm</a:t>
            </a:r>
            <a:r>
              <a:rPr lang="en-VN" sz="2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v"/>
            </a:pPr>
            <a:r>
              <a:rPr lang="en-US" sz="2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Trình</a:t>
            </a:r>
            <a:r>
              <a:rPr lang="en-US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bày</a:t>
            </a:r>
            <a:r>
              <a:rPr lang="en-US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những</a:t>
            </a:r>
            <a:r>
              <a:rPr lang="en-US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đề</a:t>
            </a:r>
            <a:r>
              <a:rPr lang="en-US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xuất</a:t>
            </a:r>
            <a:r>
              <a:rPr lang="en-US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nếu</a:t>
            </a:r>
            <a:r>
              <a:rPr lang="en-US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có</a:t>
            </a:r>
            <a:r>
              <a:rPr lang="en-US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.</a:t>
            </a:r>
            <a:endParaRPr lang="en-V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44623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81F4297-DF5E-59CC-139F-E361B802F36F}"/>
              </a:ext>
            </a:extLst>
          </p:cNvPr>
          <p:cNvSpPr txBox="1"/>
          <p:nvPr/>
        </p:nvSpPr>
        <p:spPr>
          <a:xfrm>
            <a:off x="1524000" y="76200"/>
            <a:ext cx="372858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CẢM TẠ (</a:t>
            </a:r>
            <a:r>
              <a:rPr lang="en-US" sz="3600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nếu</a:t>
            </a:r>
            <a:r>
              <a:rPr lang="en-US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vi-VN" sz="36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21044BD-81EF-2C9C-ADE9-388DD33CBE36}"/>
              </a:ext>
            </a:extLst>
          </p:cNvPr>
          <p:cNvSpPr txBox="1"/>
          <p:nvPr/>
        </p:nvSpPr>
        <p:spPr>
          <a:xfrm>
            <a:off x="878088" y="1676400"/>
            <a:ext cx="8113511" cy="19538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Trình</a:t>
            </a:r>
            <a:r>
              <a:rPr lang="en-US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bày</a:t>
            </a:r>
            <a:r>
              <a:rPr lang="en-US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lời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cảm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ơn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đến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tập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thể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tổ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chức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hoặc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các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cá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nhân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có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đóng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góp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quan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trọng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trong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quá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trình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thực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hiện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đề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tài</a:t>
            </a:r>
            <a:r>
              <a:rPr lang="en-US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en-US" sz="2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nếu</a:t>
            </a:r>
            <a:r>
              <a:rPr lang="en-US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có</a:t>
            </a:r>
            <a:r>
              <a:rPr lang="en-US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).</a:t>
            </a:r>
            <a:r>
              <a:rPr lang="en-VN" sz="2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V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05801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609600" y="2743200"/>
            <a:ext cx="8654143" cy="14478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4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CẢM ƠN THẦY/CÔ </a:t>
            </a:r>
          </a:p>
          <a:p>
            <a:r>
              <a:rPr lang="en-US" altLang="en-US" sz="4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 CÁC BẠN ĐÃ LẮNG NGHE</a:t>
            </a:r>
          </a:p>
        </p:txBody>
      </p:sp>
    </p:spTree>
    <p:extLst>
      <p:ext uri="{BB962C8B-B14F-4D97-AF65-F5344CB8AC3E}">
        <p14:creationId xmlns:p14="http://schemas.microsoft.com/office/powerpoint/2010/main" val="25524186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57200" y="1295400"/>
            <a:ext cx="9144000" cy="5139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Wingdings" pitchFamily="2" charset="2"/>
              <a:buChar char="v"/>
            </a:pPr>
            <a:r>
              <a:rPr lang="vi-VN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Thời gian báo cáo </a:t>
            </a:r>
            <a:r>
              <a:rPr lang="vi-VN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dành cho đề tài: 15-20 phút.</a:t>
            </a:r>
          </a:p>
          <a:p>
            <a:pPr marL="914400" lvl="1" indent="-457200" algn="just">
              <a:buFont typeface="Wingdings" pitchFamily="2" charset="2"/>
              <a:buChar char="§"/>
            </a:pPr>
            <a:r>
              <a:rPr lang="vi-VN" sz="2400" b="1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Không nên</a:t>
            </a:r>
            <a:r>
              <a:rPr lang="vi-VN" sz="2400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báo cáo vượt thời gian qui định (tốt nhất là sớm hơn 1-2 phút).</a:t>
            </a:r>
          </a:p>
          <a:p>
            <a:pPr marL="914400" lvl="1" indent="-457200" algn="just">
              <a:buFont typeface="Wingdings" pitchFamily="2" charset="2"/>
              <a:buChar char="§"/>
            </a:pPr>
            <a:r>
              <a:rPr lang="vi-VN" sz="2400" b="1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Tốc độ nói </a:t>
            </a:r>
            <a:r>
              <a:rPr lang="vi-VN" sz="2400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không nên quá nhanh (người nghe sẽ theo dõi không kịp) hay quá chậm (người nghe dễ bị mất chú ý).</a:t>
            </a:r>
          </a:p>
          <a:p>
            <a:pPr marL="457200" indent="-457200" algn="just">
              <a:buFont typeface="Wingdings" pitchFamily="2" charset="2"/>
              <a:buChar char="v"/>
            </a:pPr>
            <a:r>
              <a:rPr lang="vi-VN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Thời gian hội đồng hỏi</a:t>
            </a:r>
            <a:r>
              <a:rPr lang="vi-VN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10-15 phút.</a:t>
            </a:r>
          </a:p>
          <a:p>
            <a:pPr marL="914400" lvl="1" indent="-457200" algn="just">
              <a:buFont typeface="Wingdings" pitchFamily="2" charset="2"/>
              <a:buChar char="§"/>
            </a:pPr>
            <a:r>
              <a:rPr lang="vi-VN" sz="2400" b="1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Nên</a:t>
            </a:r>
            <a:r>
              <a:rPr lang="vi-VN" sz="2400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chuẩn bị sẳn giấy viết để ghi nhanh lại câu hỏi tránh hỏi lại.</a:t>
            </a:r>
          </a:p>
          <a:p>
            <a:pPr marL="914400" lvl="1" indent="-457200" algn="just">
              <a:buFont typeface="Wingdings" pitchFamily="2" charset="2"/>
              <a:buChar char="§"/>
            </a:pPr>
            <a:r>
              <a:rPr lang="vi-VN" sz="2400" b="1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Tránh</a:t>
            </a:r>
            <a:r>
              <a:rPr lang="vi-VN" sz="2400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ngắt lời của người hỏi, chỉ hỏi lại khi người hỏi dừng lại.</a:t>
            </a:r>
          </a:p>
          <a:p>
            <a:pPr marL="457200" indent="-457200" algn="just">
              <a:buFont typeface="Wingdings" pitchFamily="2" charset="2"/>
              <a:buChar char="v"/>
            </a:pPr>
            <a:r>
              <a:rPr lang="vi-VN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Thời gian SV chuẩn bị trả lời</a:t>
            </a:r>
            <a:r>
              <a:rPr lang="vi-VN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5-10 phút.</a:t>
            </a:r>
          </a:p>
          <a:p>
            <a:pPr marL="914400" lvl="1" indent="-457200" algn="just">
              <a:buFont typeface="Wingdings" pitchFamily="2" charset="2"/>
              <a:buChar char="§"/>
            </a:pPr>
            <a:r>
              <a:rPr lang="vi-VN" sz="2400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Cố gắng trả lời tập trung vào câu hỏi.</a:t>
            </a:r>
          </a:p>
          <a:p>
            <a:pPr marL="914400" lvl="1" indent="-457200" algn="just">
              <a:buFont typeface="Wingdings" pitchFamily="2" charset="2"/>
              <a:buChar char="§"/>
            </a:pPr>
            <a:r>
              <a:rPr lang="vi-VN" sz="2400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Với câu hỏi không biết, SV nên nói thẳng tránh nói lòng vòng gây khó chịu cho người hỏi và hội đồng.</a:t>
            </a:r>
          </a:p>
          <a:p>
            <a:pPr marL="457200" indent="-457200" algn="just">
              <a:buFont typeface="Wingdings" pitchFamily="2" charset="2"/>
              <a:buChar char="v"/>
            </a:pPr>
            <a:endParaRPr lang="vi-VN" sz="28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524000" y="76200"/>
            <a:ext cx="491993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Phụ</a:t>
            </a:r>
            <a:r>
              <a:rPr lang="en-US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lục</a:t>
            </a:r>
            <a:r>
              <a:rPr lang="en-US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3200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Lưu</a:t>
            </a:r>
            <a:r>
              <a:rPr lang="en-US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ý</a:t>
            </a:r>
            <a:r>
              <a:rPr lang="en-US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báo</a:t>
            </a:r>
            <a:r>
              <a:rPr lang="en-US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cáo</a:t>
            </a:r>
            <a:endParaRPr lang="en-US" sz="32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448800" y="648866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vi-V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33728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524000" y="76200"/>
            <a:ext cx="633859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Phụ</a:t>
            </a:r>
            <a:r>
              <a:rPr lang="en-US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lục</a:t>
            </a:r>
            <a:r>
              <a:rPr lang="en-US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3200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Lưu</a:t>
            </a:r>
            <a:r>
              <a:rPr lang="en-US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ý</a:t>
            </a:r>
            <a:r>
              <a:rPr lang="en-US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thức trình bày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1143000"/>
            <a:ext cx="906780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Wingdings" pitchFamily="2" charset="2"/>
              <a:buChar char="v"/>
            </a:pPr>
            <a:r>
              <a:rPr lang="vi-VN" sz="28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Tên báo cáo</a:t>
            </a:r>
            <a:r>
              <a:rPr lang="vi-VN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cỡ chữ tối thiểu là 32 (tốt nhất là 36-40).</a:t>
            </a:r>
          </a:p>
          <a:p>
            <a:pPr marL="457200" indent="-457200" algn="just">
              <a:buFont typeface="Wingdings" pitchFamily="2" charset="2"/>
              <a:buChar char="v"/>
            </a:pPr>
            <a:r>
              <a:rPr lang="vi-VN" sz="28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Phần nội dung</a:t>
            </a:r>
            <a:r>
              <a:rPr lang="vi-VN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Cỡ chữ tối thiểu 24 ppt, </a:t>
            </a:r>
            <a:r>
              <a:rPr lang="vi-V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vi-VN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đậm</a:t>
            </a:r>
            <a:r>
              <a:rPr lang="vi-VN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vi-VN" sz="2800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nghiêng</a:t>
            </a:r>
            <a:r>
              <a:rPr lang="vi-VN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hay sử dụng </a:t>
            </a:r>
            <a:r>
              <a:rPr lang="vi-V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màu chữ khác </a:t>
            </a:r>
            <a:r>
              <a:rPr lang="vi-VN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cho các phần cần nhấn mạnh.</a:t>
            </a:r>
          </a:p>
          <a:p>
            <a:pPr marL="457200" indent="-457200" algn="just">
              <a:buFont typeface="Wingdings" pitchFamily="2" charset="2"/>
              <a:buChar char="v"/>
            </a:pPr>
            <a:r>
              <a:rPr lang="vi-VN" sz="28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Nên dùng </a:t>
            </a:r>
            <a:r>
              <a:rPr lang="vi-VN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 đánh dấu  đầu dòng (</a:t>
            </a:r>
            <a:r>
              <a:rPr lang="vi-VN" sz="28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bullet point</a:t>
            </a:r>
            <a:r>
              <a:rPr lang="vi-VN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và so hàng đầu dòng để:</a:t>
            </a:r>
          </a:p>
          <a:p>
            <a:pPr marL="914400" lvl="1" indent="-457200" algn="just">
              <a:buFont typeface="Wingdings" panose="05000000000000000000" pitchFamily="2" charset="2"/>
              <a:buChar char="§"/>
            </a:pPr>
            <a:r>
              <a:rPr lang="vi-VN" sz="2400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Thể hiện các  ý (chính và phụ) của báo cáo.</a:t>
            </a:r>
          </a:p>
          <a:p>
            <a:pPr marL="914400" lvl="1" indent="-457200" algn="just">
              <a:buFont typeface="Wingdings" panose="05000000000000000000" pitchFamily="2" charset="2"/>
              <a:buChar char="§"/>
            </a:pPr>
            <a:r>
              <a:rPr lang="vi-VN" sz="2400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  ý phụ có thể thụt vào và kích cỡ chữ nhỏ hơn để dễ theo dõi và phân biệt.</a:t>
            </a:r>
          </a:p>
          <a:p>
            <a:pPr marL="457200" indent="-457200" algn="just">
              <a:buFont typeface="Wingdings" pitchFamily="2" charset="2"/>
              <a:buChar char="v"/>
            </a:pPr>
            <a:r>
              <a:rPr lang="vi-VN" sz="28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Tránh dùng</a:t>
            </a:r>
            <a:r>
              <a:rPr lang="vi-VN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nhiều lệnh hiệu ứng (</a:t>
            </a:r>
            <a:r>
              <a:rPr lang="vi-VN" sz="28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animation</a:t>
            </a:r>
            <a:r>
              <a:rPr lang="vi-VN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và quá nhiều màu sắc trong báo cáo.</a:t>
            </a:r>
          </a:p>
          <a:p>
            <a:pPr marL="457200" indent="-457200" algn="just">
              <a:buFont typeface="Wingdings" pitchFamily="2" charset="2"/>
              <a:buChar char="v"/>
            </a:pPr>
            <a:r>
              <a:rPr lang="vi-VN" sz="28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Không nên </a:t>
            </a:r>
            <a:r>
              <a:rPr lang="vi-VN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đưa quá nhiều nội dung vào 1 slide hoặc một nội dung nhỏ mà đặt ở nhiều slide dễ gây khó hiểu.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48800" y="648866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vi-V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77491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1022</TotalTime>
  <Words>807</Words>
  <Application>Microsoft Macintosh PowerPoint</Application>
  <PresentationFormat>A4 Paper (210x297 mm)</PresentationFormat>
  <Paragraphs>75</Paragraphs>
  <Slides>13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Calibri</vt:lpstr>
      <vt:lpstr>Times New Roman</vt:lpstr>
      <vt:lpstr>Wingdings</vt:lpstr>
      <vt:lpstr>Office Theme</vt:lpstr>
      <vt:lpstr>Custom Design</vt:lpstr>
      <vt:lpstr>2_Custom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Minh Vu</dc:creator>
  <cp:lastModifiedBy>Triet Dang</cp:lastModifiedBy>
  <cp:revision>209</cp:revision>
  <dcterms:created xsi:type="dcterms:W3CDTF">2019-04-09T09:32:48Z</dcterms:created>
  <dcterms:modified xsi:type="dcterms:W3CDTF">2023-06-13T16:38:19Z</dcterms:modified>
</cp:coreProperties>
</file>